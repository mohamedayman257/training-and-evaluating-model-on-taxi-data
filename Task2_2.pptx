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86" r:id="rId2"/>
  </p:sldMasterIdLst>
  <p:notesMasterIdLst>
    <p:notesMasterId r:id="rId18"/>
  </p:notesMasterIdLst>
  <p:sldIdLst>
    <p:sldId id="292" r:id="rId3"/>
    <p:sldId id="412" r:id="rId4"/>
    <p:sldId id="416" r:id="rId5"/>
    <p:sldId id="418" r:id="rId6"/>
    <p:sldId id="419" r:id="rId7"/>
    <p:sldId id="420" r:id="rId8"/>
    <p:sldId id="428" r:id="rId9"/>
    <p:sldId id="429" r:id="rId10"/>
    <p:sldId id="415" r:id="rId11"/>
    <p:sldId id="423" r:id="rId12"/>
    <p:sldId id="430" r:id="rId13"/>
    <p:sldId id="424" r:id="rId14"/>
    <p:sldId id="425" r:id="rId15"/>
    <p:sldId id="426" r:id="rId16"/>
    <p:sldId id="406" r:id="rId17"/>
  </p:sldIdLst>
  <p:sldSz cx="18288000" cy="10287000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Microsoft Sans Serif" panose="020B06040202020202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2" autoAdjust="0"/>
    <p:restoredTop sz="91525" autoAdjust="0"/>
  </p:normalViewPr>
  <p:slideViewPr>
    <p:cSldViewPr>
      <p:cViewPr varScale="1">
        <p:scale>
          <a:sx n="51" d="100"/>
          <a:sy n="51" d="100"/>
        </p:scale>
        <p:origin x="100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0FD0A-FE2C-46EB-8177-9AF94D7ECF8D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852AE-1133-4F73-BBBB-3885EE747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85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7E1FCE-83C8-4B59-AA4D-5DEA2FE13E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15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73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61558" y="478964"/>
            <a:ext cx="7164884" cy="467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4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4847973"/>
            <a:ext cx="12801600" cy="311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26" b="0" i="0">
                <a:solidFill>
                  <a:srgbClr val="6B747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18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7204" y="446795"/>
            <a:ext cx="13533595" cy="467820"/>
          </a:xfrm>
        </p:spPr>
        <p:txBody>
          <a:bodyPr lIns="0" tIns="0" rIns="0" bIns="0"/>
          <a:lstStyle>
            <a:lvl1pPr>
              <a:defRPr sz="304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8200" y="1592018"/>
            <a:ext cx="8018145" cy="311752"/>
          </a:xfrm>
        </p:spPr>
        <p:txBody>
          <a:bodyPr lIns="0" tIns="0" rIns="0" bIns="0"/>
          <a:lstStyle>
            <a:lvl1pPr>
              <a:defRPr sz="2026" b="0" i="0">
                <a:solidFill>
                  <a:srgbClr val="6B747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174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7204" y="446795"/>
            <a:ext cx="13533595" cy="467820"/>
          </a:xfrm>
        </p:spPr>
        <p:txBody>
          <a:bodyPr lIns="0" tIns="0" rIns="0" bIns="0"/>
          <a:lstStyle>
            <a:lvl1pPr>
              <a:defRPr sz="304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1" y="1991133"/>
            <a:ext cx="79552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19" y="1991133"/>
            <a:ext cx="79552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215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7204" y="446795"/>
            <a:ext cx="13533595" cy="467820"/>
          </a:xfrm>
        </p:spPr>
        <p:txBody>
          <a:bodyPr lIns="0" tIns="0" rIns="0" bIns="0"/>
          <a:lstStyle>
            <a:lvl1pPr>
              <a:defRPr sz="304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026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268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A3E7A03E-3088-EAC1-A3FA-545EEC0DAD67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3952080" y="-4090320"/>
            <a:ext cx="10365840" cy="18475200"/>
            <a:chOff x="0" y="0"/>
            <a:chExt cx="13821120" cy="2463360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B2E2994E-3F9A-8910-A665-ED7E3A7B95D8}"/>
                </a:ext>
              </a:extLst>
            </p:cNvPr>
            <p:cNvSpPr/>
            <p:nvPr/>
          </p:nvSpPr>
          <p:spPr>
            <a:xfrm>
              <a:off x="0" y="0"/>
              <a:ext cx="13821156" cy="24633555"/>
            </a:xfrm>
            <a:custGeom>
              <a:avLst/>
              <a:gdLst/>
              <a:ahLst/>
              <a:cxnLst/>
              <a:rect l="l" t="t" r="r" b="b"/>
              <a:pathLst>
                <a:path w="13821156" h="24633555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6873" t="-1350" r="-225516" b="-3533"/>
              </a:stretch>
            </a:blipFill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4">
            <a:extLst>
              <a:ext uri="{FF2B5EF4-FFF2-40B4-BE49-F238E27FC236}">
                <a16:creationId xmlns:a16="http://schemas.microsoft.com/office/drawing/2014/main" id="{7ACEEF43-C46A-29F3-B304-1FF7DBB78922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4410367" y="-4041361"/>
            <a:ext cx="10275840" cy="18287280"/>
            <a:chOff x="0" y="0"/>
            <a:chExt cx="13701120" cy="2438304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2FD59E4-F1B0-DA3E-456F-060661799F98}"/>
                </a:ext>
              </a:extLst>
            </p:cNvPr>
            <p:cNvSpPr/>
            <p:nvPr/>
          </p:nvSpPr>
          <p:spPr>
            <a:xfrm>
              <a:off x="0" y="0"/>
              <a:ext cx="13701140" cy="24382985"/>
            </a:xfrm>
            <a:custGeom>
              <a:avLst/>
              <a:gdLst/>
              <a:ahLst/>
              <a:cxnLst/>
              <a:rect l="l" t="t" r="r" b="b"/>
              <a:pathLst>
                <a:path w="13701140" h="24382985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50000"/>
              </a:blip>
              <a:stretch>
                <a:fillRect l="-16966" t="-3901" r="-46200" b="52337"/>
              </a:stretch>
            </a:blipFill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7204" y="446795"/>
            <a:ext cx="13533595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007BF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8200" y="1592018"/>
            <a:ext cx="801814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B747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8051097"/>
            <a:ext cx="5852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1" y="8051097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59" y="8051097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3C8A7296-5216-7841-2C54-19817BE343F6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3952080" y="-4090320"/>
            <a:ext cx="10365840" cy="18475200"/>
            <a:chOff x="0" y="0"/>
            <a:chExt cx="13821120" cy="2463360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3D040302-4E46-68AA-4A2D-AC239287434F}"/>
                </a:ext>
              </a:extLst>
            </p:cNvPr>
            <p:cNvSpPr/>
            <p:nvPr/>
          </p:nvSpPr>
          <p:spPr>
            <a:xfrm>
              <a:off x="0" y="0"/>
              <a:ext cx="13821156" cy="24633555"/>
            </a:xfrm>
            <a:custGeom>
              <a:avLst/>
              <a:gdLst/>
              <a:ahLst/>
              <a:cxnLst/>
              <a:rect l="l" t="t" r="r" b="b"/>
              <a:pathLst>
                <a:path w="13821156" h="24633555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873" t="-1350" r="-225516" b="-3533"/>
              </a:stretch>
            </a:blipFill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" name="Group 4">
            <a:extLst>
              <a:ext uri="{FF2B5EF4-FFF2-40B4-BE49-F238E27FC236}">
                <a16:creationId xmlns:a16="http://schemas.microsoft.com/office/drawing/2014/main" id="{DC361283-B4A7-5104-ECDB-3AB048127D8A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4410367" y="-4041361"/>
            <a:ext cx="10275840" cy="18287280"/>
            <a:chOff x="0" y="0"/>
            <a:chExt cx="13701120" cy="2438304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F277D9C-9246-458C-B958-529DBC6B613E}"/>
                </a:ext>
              </a:extLst>
            </p:cNvPr>
            <p:cNvSpPr/>
            <p:nvPr/>
          </p:nvSpPr>
          <p:spPr>
            <a:xfrm>
              <a:off x="0" y="0"/>
              <a:ext cx="13701140" cy="24382985"/>
            </a:xfrm>
            <a:custGeom>
              <a:avLst/>
              <a:gdLst/>
              <a:ahLst/>
              <a:cxnLst/>
              <a:rect l="l" t="t" r="r" b="b"/>
              <a:pathLst>
                <a:path w="13701140" h="24382985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0000"/>
              </a:blip>
              <a:stretch>
                <a:fillRect l="-16966" t="-3901" r="-46200" b="52337"/>
              </a:stretch>
            </a:blipFill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256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514716">
        <a:defRPr>
          <a:latin typeface="+mn-lt"/>
          <a:ea typeface="+mn-ea"/>
          <a:cs typeface="+mn-cs"/>
        </a:defRPr>
      </a:lvl2pPr>
      <a:lvl3pPr marL="1029432">
        <a:defRPr>
          <a:latin typeface="+mn-lt"/>
          <a:ea typeface="+mn-ea"/>
          <a:cs typeface="+mn-cs"/>
        </a:defRPr>
      </a:lvl3pPr>
      <a:lvl4pPr marL="1544147">
        <a:defRPr>
          <a:latin typeface="+mn-lt"/>
          <a:ea typeface="+mn-ea"/>
          <a:cs typeface="+mn-cs"/>
        </a:defRPr>
      </a:lvl4pPr>
      <a:lvl5pPr marL="2058863">
        <a:defRPr>
          <a:latin typeface="+mn-lt"/>
          <a:ea typeface="+mn-ea"/>
          <a:cs typeface="+mn-cs"/>
        </a:defRPr>
      </a:lvl5pPr>
      <a:lvl6pPr marL="2573579">
        <a:defRPr>
          <a:latin typeface="+mn-lt"/>
          <a:ea typeface="+mn-ea"/>
          <a:cs typeface="+mn-cs"/>
        </a:defRPr>
      </a:lvl6pPr>
      <a:lvl7pPr marL="3088295">
        <a:defRPr>
          <a:latin typeface="+mn-lt"/>
          <a:ea typeface="+mn-ea"/>
          <a:cs typeface="+mn-cs"/>
        </a:defRPr>
      </a:lvl7pPr>
      <a:lvl8pPr marL="3603010">
        <a:defRPr>
          <a:latin typeface="+mn-lt"/>
          <a:ea typeface="+mn-ea"/>
          <a:cs typeface="+mn-cs"/>
        </a:defRPr>
      </a:lvl8pPr>
      <a:lvl9pPr marL="411772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14716">
        <a:defRPr>
          <a:latin typeface="+mn-lt"/>
          <a:ea typeface="+mn-ea"/>
          <a:cs typeface="+mn-cs"/>
        </a:defRPr>
      </a:lvl2pPr>
      <a:lvl3pPr marL="1029432">
        <a:defRPr>
          <a:latin typeface="+mn-lt"/>
          <a:ea typeface="+mn-ea"/>
          <a:cs typeface="+mn-cs"/>
        </a:defRPr>
      </a:lvl3pPr>
      <a:lvl4pPr marL="1544147">
        <a:defRPr>
          <a:latin typeface="+mn-lt"/>
          <a:ea typeface="+mn-ea"/>
          <a:cs typeface="+mn-cs"/>
        </a:defRPr>
      </a:lvl4pPr>
      <a:lvl5pPr marL="2058863">
        <a:defRPr>
          <a:latin typeface="+mn-lt"/>
          <a:ea typeface="+mn-ea"/>
          <a:cs typeface="+mn-cs"/>
        </a:defRPr>
      </a:lvl5pPr>
      <a:lvl6pPr marL="2573579">
        <a:defRPr>
          <a:latin typeface="+mn-lt"/>
          <a:ea typeface="+mn-ea"/>
          <a:cs typeface="+mn-cs"/>
        </a:defRPr>
      </a:lvl6pPr>
      <a:lvl7pPr marL="3088295">
        <a:defRPr>
          <a:latin typeface="+mn-lt"/>
          <a:ea typeface="+mn-ea"/>
          <a:cs typeface="+mn-cs"/>
        </a:defRPr>
      </a:lvl7pPr>
      <a:lvl8pPr marL="3603010">
        <a:defRPr>
          <a:latin typeface="+mn-lt"/>
          <a:ea typeface="+mn-ea"/>
          <a:cs typeface="+mn-cs"/>
        </a:defRPr>
      </a:lvl8pPr>
      <a:lvl9pPr marL="411772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543050"/>
          <a:ext cx="8229600" cy="3257550"/>
          <a:chOff x="914400" y="1543050"/>
          <a:chExt cx="8229600" cy="3257550"/>
        </a:xfrm>
      </p:grpSpPr>
      <p:sp>
        <p:nvSpPr>
          <p:cNvPr id="2" name="TextBox 1"/>
          <p:cNvSpPr txBox="1"/>
          <p:nvPr/>
        </p:nvSpPr>
        <p:spPr>
          <a:xfrm>
            <a:off x="6010275" y="8267700"/>
            <a:ext cx="6267450" cy="1169551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algn="ctr" fontAlgn="t"/>
            <a:r>
              <a:rPr lang="en-US" sz="3200" b="1" dirty="0">
                <a:solidFill>
                  <a:schemeClr val="bg1"/>
                </a:solidFill>
                <a:latin typeface="Arial"/>
              </a:rPr>
              <a:t>Mohamed Ayman</a:t>
            </a:r>
          </a:p>
          <a:p>
            <a:pPr algn="ctr" fontAlgn="t"/>
            <a:r>
              <a:rPr lang="en-US" sz="3200" b="1" dirty="0">
                <a:solidFill>
                  <a:schemeClr val="bg1"/>
                </a:solidFill>
                <a:latin typeface="Arial"/>
              </a:rPr>
              <a:t>Aya Adel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1A41DF-D578-6EB1-3C77-EF16A69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0" y="4610100"/>
            <a:ext cx="13487400" cy="1846660"/>
          </a:xfrm>
        </p:spPr>
        <p:txBody>
          <a:bodyPr>
            <a:normAutofit fontScale="90000"/>
          </a:bodyPr>
          <a:lstStyle/>
          <a:p>
            <a:r>
              <a:rPr lang="en-US" sz="7200" b="1" dirty="0"/>
              <a:t>Taxi Fares Prediction</a:t>
            </a:r>
            <a:br>
              <a:rPr lang="en-US" sz="7200" dirty="0"/>
            </a:br>
            <a:r>
              <a:rPr lang="en-US" sz="4900" dirty="0"/>
              <a:t>Machine Learning Regression Project</a:t>
            </a:r>
            <a:br>
              <a:rPr lang="en-US" sz="7200" dirty="0"/>
            </a:br>
            <a:br>
              <a:rPr lang="en-US" sz="7200" b="1" dirty="0">
                <a:latin typeface="Arial"/>
                <a:ea typeface="+mn-ea"/>
                <a:cs typeface="+mn-cs"/>
              </a:rPr>
            </a:br>
            <a:endParaRPr lang="en-US" sz="7200" b="1" dirty="0"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32A0-BF75-C3EE-0F6D-0FB4C4117495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63432-6265-0E8C-3E1C-00DA47019244}"/>
              </a:ext>
            </a:extLst>
          </p:cNvPr>
          <p:cNvSpPr txBox="1"/>
          <p:nvPr/>
        </p:nvSpPr>
        <p:spPr>
          <a:xfrm>
            <a:off x="838200" y="643057"/>
            <a:ext cx="14630400" cy="1107996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fontAlgn="t"/>
            <a:r>
              <a:rPr lang="en-US" sz="6000" dirty="0">
                <a:solidFill>
                  <a:schemeClr val="bg1"/>
                </a:solidFill>
              </a:rPr>
              <a:t>1. Introduction</a:t>
            </a:r>
            <a:endParaRPr lang="en-US" sz="60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95276-E018-335A-CA9D-5D2AE4D070B5}"/>
              </a:ext>
            </a:extLst>
          </p:cNvPr>
          <p:cNvSpPr txBox="1"/>
          <p:nvPr/>
        </p:nvSpPr>
        <p:spPr>
          <a:xfrm>
            <a:off x="838200" y="1773913"/>
            <a:ext cx="16052800" cy="6955750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Ctr="0">
            <a:sp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Why does booking cancelation is matter?</a:t>
            </a:r>
          </a:p>
          <a:p>
            <a:endParaRPr lang="en-US" sz="4000" b="1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The Goal:</a:t>
            </a:r>
            <a:r>
              <a:rPr lang="en-US" sz="4000" dirty="0">
                <a:solidFill>
                  <a:schemeClr val="bg1"/>
                </a:solidFill>
              </a:rPr>
              <a:t> predict fare amount of taxi data using machine learning algorithms.</a:t>
            </a:r>
            <a:endParaRPr lang="en-US" sz="4000" b="1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Target: Fare amount </a:t>
            </a:r>
          </a:p>
          <a:p>
            <a:endParaRPr lang="en-US" sz="4000" b="1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Regression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b="1" dirty="0">
              <a:solidFill>
                <a:schemeClr val="bg1"/>
              </a:solidFill>
            </a:endParaRPr>
          </a:p>
          <a:p>
            <a:endParaRPr lang="en-US" sz="4000" b="1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    Handled the null values and  No Missing Values or Duplicates.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87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B0CA-3E99-EB02-1188-C9AA6B39CBF5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11F5FC-4BA3-998F-71D1-3A9A3C492572}"/>
              </a:ext>
            </a:extLst>
          </p:cNvPr>
          <p:cNvSpPr txBox="1"/>
          <p:nvPr/>
        </p:nvSpPr>
        <p:spPr>
          <a:xfrm>
            <a:off x="838200" y="643057"/>
            <a:ext cx="16459200" cy="8186857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fontAlgn="t"/>
            <a:r>
              <a:rPr lang="en-US" sz="6000" dirty="0">
                <a:solidFill>
                  <a:schemeClr val="bg1"/>
                </a:solidFill>
              </a:rPr>
              <a:t>2. Train-Test Split (Before Preprocessing)</a:t>
            </a:r>
            <a:endParaRPr lang="en-US" sz="2000" b="1" dirty="0">
              <a:solidFill>
                <a:schemeClr val="bg1"/>
              </a:solidFill>
              <a:latin typeface="Arial"/>
            </a:endParaRPr>
          </a:p>
          <a:p>
            <a:pPr fontAlgn="t"/>
            <a:endParaRPr lang="en-US" sz="6000" b="1" dirty="0">
              <a:solidFill>
                <a:schemeClr val="bg1"/>
              </a:solidFill>
              <a:latin typeface="Arial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80% Training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20% Testing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Split done before preprocessing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Prevents Data Leakage</a:t>
            </a:r>
          </a:p>
          <a:p>
            <a:pPr fontAlgn="t"/>
            <a:endParaRPr lang="en-US" sz="6000" b="1" dirty="0">
              <a:solidFill>
                <a:schemeClr val="bg1"/>
              </a:solidFill>
              <a:latin typeface="Arial"/>
            </a:endParaRPr>
          </a:p>
          <a:p>
            <a:pPr fontAlgn="t"/>
            <a:r>
              <a:rPr lang="en-US" sz="4000" b="1" dirty="0">
                <a:solidFill>
                  <a:schemeClr val="bg1"/>
                </a:solidFill>
                <a:latin typeface="Arial"/>
              </a:rPr>
              <a:t>We split the data before any processing to ensure that the test data remains unseen and is not affected by any cleaning or transformation operations.</a:t>
            </a:r>
          </a:p>
          <a:p>
            <a:pPr fontAlgn="t"/>
            <a:endParaRPr lang="en-US" sz="6000" b="1" dirty="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48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6969B-A1D2-7488-2819-F88E9F51EEBE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903AB9-2474-36A4-C489-977C3CF5D795}"/>
              </a:ext>
            </a:extLst>
          </p:cNvPr>
          <p:cNvSpPr txBox="1"/>
          <p:nvPr/>
        </p:nvSpPr>
        <p:spPr>
          <a:xfrm>
            <a:off x="838200" y="643057"/>
            <a:ext cx="15392400" cy="5109091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fontAlgn="t"/>
            <a:r>
              <a:rPr lang="en-US" sz="6000" dirty="0">
                <a:solidFill>
                  <a:schemeClr val="bg1"/>
                </a:solidFill>
              </a:rPr>
              <a:t>3. Data Preprocessing</a:t>
            </a:r>
          </a:p>
          <a:p>
            <a:pPr fontAlgn="t"/>
            <a:endParaRPr lang="en-US" sz="6000" b="1" dirty="0">
              <a:solidFill>
                <a:schemeClr val="bg1"/>
              </a:solidFill>
              <a:latin typeface="Arial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Deleted  pickup datetime because we have it’s extracted value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No missing values in dataset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Filtering the fare amount from any negative values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Dropped pickup, </a:t>
            </a:r>
            <a:r>
              <a:rPr lang="en-US" sz="4000" dirty="0" err="1">
                <a:solidFill>
                  <a:schemeClr val="bg1"/>
                </a:solidFill>
              </a:rPr>
              <a:t>dropoff</a:t>
            </a:r>
            <a:r>
              <a:rPr lang="en-US" sz="4000" dirty="0">
                <a:solidFill>
                  <a:schemeClr val="bg1"/>
                </a:solidFill>
              </a:rPr>
              <a:t> latitude and longitude because the coordinates was in the sea.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69E750-32BA-BE17-4C4E-C75CFAC73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6057900"/>
            <a:ext cx="12192000" cy="374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91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8824-906C-309E-CDA0-C572C1E9E376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EFCD86-ED86-3D56-A834-7477A4BCBD0E}"/>
              </a:ext>
            </a:extLst>
          </p:cNvPr>
          <p:cNvSpPr txBox="1"/>
          <p:nvPr/>
        </p:nvSpPr>
        <p:spPr>
          <a:xfrm>
            <a:off x="838200" y="643057"/>
            <a:ext cx="6324600" cy="7448193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fontAlgn="t"/>
            <a:r>
              <a:rPr lang="en-US" sz="6000" dirty="0">
                <a:solidFill>
                  <a:schemeClr val="bg1"/>
                </a:solidFill>
              </a:rPr>
              <a:t>3. Data Preprocessing</a:t>
            </a:r>
          </a:p>
          <a:p>
            <a:pPr fontAlgn="t"/>
            <a:endParaRPr lang="en-US" sz="3200" b="1" dirty="0">
              <a:solidFill>
                <a:schemeClr val="bg1"/>
              </a:solidFill>
              <a:latin typeface="Arial"/>
            </a:endParaRPr>
          </a:p>
          <a:p>
            <a:pPr marL="514350" indent="-514350" fontAlgn="t">
              <a:buFont typeface="+mj-lt"/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Arial"/>
              </a:rPr>
              <a:t>We handled fare amount outlier with dropping all the values bigger than 200$</a:t>
            </a:r>
          </a:p>
          <a:p>
            <a:pPr marL="514350" indent="-514350" fontAlgn="t">
              <a:buFont typeface="+mj-lt"/>
              <a:buAutoNum type="arabicPeriod"/>
            </a:pPr>
            <a:endParaRPr lang="en-US" sz="3200" b="1" dirty="0">
              <a:solidFill>
                <a:schemeClr val="bg1"/>
              </a:solidFill>
              <a:latin typeface="Arial"/>
            </a:endParaRPr>
          </a:p>
          <a:p>
            <a:pPr marL="514350" indent="-514350" fontAlgn="t">
              <a:buFont typeface="+mj-lt"/>
              <a:buAutoNum type="arabicPeriod"/>
            </a:pPr>
            <a:endParaRPr lang="en-US" sz="3200" b="1" dirty="0">
              <a:solidFill>
                <a:schemeClr val="bg1"/>
              </a:solidFill>
              <a:latin typeface="Arial"/>
            </a:endParaRPr>
          </a:p>
          <a:p>
            <a:pPr marL="514350" indent="-514350" fontAlgn="t">
              <a:buFont typeface="+mj-lt"/>
              <a:buAutoNum type="arabicPeriod"/>
            </a:pPr>
            <a:endParaRPr lang="en-US" sz="3200" b="1" dirty="0">
              <a:solidFill>
                <a:schemeClr val="bg1"/>
              </a:solidFill>
              <a:latin typeface="Arial"/>
            </a:endParaRPr>
          </a:p>
          <a:p>
            <a:pPr marL="514350" indent="-514350" fontAlgn="t">
              <a:buFont typeface="+mj-lt"/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Arial"/>
              </a:rPr>
              <a:t>We handled distance outliers with dropping all the values bigger than 20Km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8994B-056C-567F-130A-959D81B00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643057"/>
            <a:ext cx="8839200" cy="3986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4AE566-460F-EC17-F128-D7721FCD8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4991100"/>
            <a:ext cx="8839200" cy="39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1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81E7A-F846-EF99-4DD2-82C07803C14F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2B054-EF4E-9C9C-7865-80BFEBFDBE99}"/>
              </a:ext>
            </a:extLst>
          </p:cNvPr>
          <p:cNvSpPr txBox="1"/>
          <p:nvPr/>
        </p:nvSpPr>
        <p:spPr>
          <a:xfrm>
            <a:off x="838200" y="643057"/>
            <a:ext cx="15468600" cy="6032421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fontAlgn="t"/>
            <a:r>
              <a:rPr lang="en-US" sz="6000" dirty="0">
                <a:solidFill>
                  <a:schemeClr val="bg1"/>
                </a:solidFill>
              </a:rPr>
              <a:t>3. Data Preprocessing</a:t>
            </a:r>
            <a:endParaRPr lang="en-US" sz="6000" b="1" dirty="0">
              <a:solidFill>
                <a:schemeClr val="bg1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chemeClr val="bg1"/>
                </a:solidFill>
                <a:latin typeface="Arial" panose="020B0604020202020204" pitchFamily="34" charset="0"/>
              </a:rPr>
              <a:t> Label Encoding or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</a:rPr>
              <a:t>Ordinal Encoder</a:t>
            </a:r>
            <a:r>
              <a:rPr lang="en-US" altLang="en-US" sz="4000" dirty="0">
                <a:solidFill>
                  <a:schemeClr val="bg1"/>
                </a:solidFill>
                <a:latin typeface="Arial" panose="020B0604020202020204" pitchFamily="34" charset="0"/>
              </a:rPr>
              <a:t> for car condition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chemeClr val="bg1"/>
                </a:solidFill>
                <a:latin typeface="Arial" panose="020B0604020202020204" pitchFamily="34" charset="0"/>
              </a:rPr>
              <a:t> One-Hot Encoding for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</a:rPr>
              <a:t>weather</a:t>
            </a:r>
            <a:r>
              <a:rPr lang="en-US" sz="4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>
                <a:solidFill>
                  <a:schemeClr val="bg1"/>
                </a:solidFill>
                <a:latin typeface="Arial" panose="020B0604020202020204" pitchFamily="34" charset="0"/>
              </a:rPr>
              <a:t>and traffic condition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chemeClr val="bg1"/>
                </a:solidFill>
                <a:latin typeface="Arial" panose="020B0604020202020204" pitchFamily="34" charset="0"/>
              </a:rPr>
              <a:t> We made Robust scaling to the numeric data and log on distance and fare amount to handle the skewing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chemeClr val="bg1"/>
                </a:solidFill>
                <a:latin typeface="Arial" panose="020B0604020202020204" pitchFamily="34" charset="0"/>
              </a:rPr>
              <a:t> and done PCA on </a:t>
            </a:r>
            <a:r>
              <a:rPr lang="en-US" altLang="en-US" sz="4000" dirty="0" err="1">
                <a:solidFill>
                  <a:schemeClr val="bg1"/>
                </a:solidFill>
                <a:latin typeface="Arial" panose="020B0604020202020204" pitchFamily="34" charset="0"/>
              </a:rPr>
              <a:t>dist</a:t>
            </a:r>
            <a:r>
              <a:rPr lang="en-US" altLang="en-US" sz="4000" dirty="0">
                <a:solidFill>
                  <a:schemeClr val="bg1"/>
                </a:solidFill>
                <a:latin typeface="Arial" panose="020B0604020202020204" pitchFamily="34" charset="0"/>
              </a:rPr>
              <a:t> columns because of multi collinearity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9C2EA-8A8E-92CD-CE13-753FAF7DD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819900"/>
            <a:ext cx="7391399" cy="282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0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2F32A3-173A-AB2B-A118-39B00DC2A328}"/>
              </a:ext>
            </a:extLst>
          </p:cNvPr>
          <p:cNvSpPr txBox="1"/>
          <p:nvPr/>
        </p:nvSpPr>
        <p:spPr>
          <a:xfrm>
            <a:off x="609600" y="43661"/>
            <a:ext cx="14325600" cy="13942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4. </a:t>
            </a:r>
            <a:r>
              <a:rPr lang="en-US" sz="6000" b="1" dirty="0">
                <a:solidFill>
                  <a:schemeClr val="bg1"/>
                </a:solidFill>
              </a:rPr>
              <a:t>Feature Engineering</a:t>
            </a:r>
            <a:endParaRPr lang="en-US" sz="4000" dirty="0">
              <a:solidFill>
                <a:schemeClr val="bg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We created a new binary feature </a:t>
            </a:r>
            <a:r>
              <a:rPr lang="en-US" sz="4000" dirty="0" err="1">
                <a:solidFill>
                  <a:schemeClr val="bg1"/>
                </a:solidFill>
              </a:rPr>
              <a:t>is_weekend</a:t>
            </a:r>
            <a:r>
              <a:rPr lang="en-US" sz="4000" dirty="0">
                <a:solidFill>
                  <a:schemeClr val="bg1"/>
                </a:solidFill>
              </a:rPr>
              <a:t> to indicate whether a trip occurred on a </a:t>
            </a:r>
            <a:r>
              <a:rPr lang="en-US" sz="4000" b="1" dirty="0">
                <a:solidFill>
                  <a:schemeClr val="bg1"/>
                </a:solidFill>
              </a:rPr>
              <a:t>weekend.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000" b="1" dirty="0">
              <a:solidFill>
                <a:schemeClr val="bg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Purpose:</a:t>
            </a:r>
            <a:r>
              <a:rPr lang="en-US" sz="4000" dirty="0">
                <a:solidFill>
                  <a:schemeClr val="bg1"/>
                </a:solidFill>
              </a:rPr>
              <a:t> Weekend trips often have </a:t>
            </a:r>
            <a:r>
              <a:rPr lang="en-US" sz="4000" b="1" dirty="0">
                <a:solidFill>
                  <a:schemeClr val="bg1"/>
                </a:solidFill>
              </a:rPr>
              <a:t>different fare patterns</a:t>
            </a:r>
            <a:r>
              <a:rPr lang="en-US" sz="4000" dirty="0">
                <a:solidFill>
                  <a:schemeClr val="bg1"/>
                </a:solidFill>
              </a:rPr>
              <a:t> due to traffic and demand.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4000" dirty="0">
              <a:solidFill>
                <a:schemeClr val="bg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We created a categorical feature </a:t>
            </a:r>
            <a:r>
              <a:rPr lang="en-US" sz="4000" dirty="0" err="1">
                <a:solidFill>
                  <a:schemeClr val="bg1"/>
                </a:solidFill>
              </a:rPr>
              <a:t>time_of_day</a:t>
            </a:r>
            <a:r>
              <a:rPr lang="en-US" sz="4000" dirty="0">
                <a:solidFill>
                  <a:schemeClr val="bg1"/>
                </a:solidFill>
              </a:rPr>
              <a:t> by </a:t>
            </a:r>
            <a:r>
              <a:rPr lang="en-US" sz="4000" b="1" dirty="0">
                <a:solidFill>
                  <a:schemeClr val="bg1"/>
                </a:solidFill>
              </a:rPr>
              <a:t>binning the hour of the trip</a:t>
            </a:r>
            <a:r>
              <a:rPr lang="en-US" sz="4000" dirty="0">
                <a:solidFill>
                  <a:schemeClr val="bg1"/>
                </a:solidFill>
              </a:rPr>
              <a:t> into four periods: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dirty="0">
                <a:solidFill>
                  <a:schemeClr val="bg1"/>
                </a:solidFill>
              </a:rPr>
              <a:t>      Morning: 5-11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dirty="0">
                <a:solidFill>
                  <a:schemeClr val="bg1"/>
                </a:solidFill>
              </a:rPr>
              <a:t>      Afternoon: 12-16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dirty="0">
                <a:solidFill>
                  <a:schemeClr val="bg1"/>
                </a:solidFill>
              </a:rPr>
              <a:t>      Evening: 17-20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dirty="0">
                <a:solidFill>
                  <a:schemeClr val="bg1"/>
                </a:solidFill>
              </a:rPr>
              <a:t>      Night: 21- 4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000" dirty="0">
              <a:solidFill>
                <a:schemeClr val="bg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000" dirty="0">
              <a:solidFill>
                <a:schemeClr val="bg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000" dirty="0">
              <a:solidFill>
                <a:schemeClr val="bg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000" dirty="0">
              <a:solidFill>
                <a:schemeClr val="bg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4000" dirty="0">
              <a:solidFill>
                <a:schemeClr val="bg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8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343B57-C882-3233-907C-5CC8F96E27E3}"/>
              </a:ext>
            </a:extLst>
          </p:cNvPr>
          <p:cNvSpPr txBox="1"/>
          <p:nvPr/>
        </p:nvSpPr>
        <p:spPr>
          <a:xfrm>
            <a:off x="685800" y="342900"/>
            <a:ext cx="13868400" cy="25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- We engineered two new time-based features: </a:t>
            </a:r>
            <a:r>
              <a:rPr lang="en-US" sz="4000" dirty="0" err="1">
                <a:solidFill>
                  <a:schemeClr val="bg1"/>
                </a:solidFill>
              </a:rPr>
              <a:t>is_weekend</a:t>
            </a:r>
            <a:r>
              <a:rPr lang="en-US" sz="4000" dirty="0">
                <a:solidFill>
                  <a:schemeClr val="bg1"/>
                </a:solidFill>
              </a:rPr>
              <a:t> to flag weekend trips, and </a:t>
            </a:r>
            <a:r>
              <a:rPr lang="en-US" sz="4000" dirty="0" err="1">
                <a:solidFill>
                  <a:schemeClr val="bg1"/>
                </a:solidFill>
              </a:rPr>
              <a:t>time_of_day</a:t>
            </a:r>
            <a:r>
              <a:rPr lang="en-US" sz="4000" dirty="0">
                <a:solidFill>
                  <a:schemeClr val="bg1"/>
                </a:solidFill>
              </a:rPr>
              <a:t> to categorize trips into morning, afternoon, evening, or night. These features help the model capture temporal variations in fare patterns.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02423-0F91-ED18-73E3-928E8DAC34C7}"/>
              </a:ext>
            </a:extLst>
          </p:cNvPr>
          <p:cNvSpPr txBox="1"/>
          <p:nvPr/>
        </p:nvSpPr>
        <p:spPr>
          <a:xfrm>
            <a:off x="685800" y="4686300"/>
            <a:ext cx="15011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</a:rPr>
              <a:t>- One-Hot Encoding</a:t>
            </a:r>
            <a:endParaRPr lang="en-US" sz="4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Converted </a:t>
            </a:r>
            <a:r>
              <a:rPr lang="en-US" sz="4000" dirty="0" err="1">
                <a:solidFill>
                  <a:schemeClr val="bg1"/>
                </a:solidFill>
              </a:rPr>
              <a:t>time_of_day</a:t>
            </a:r>
            <a:r>
              <a:rPr lang="en-US" sz="4000" dirty="0">
                <a:solidFill>
                  <a:schemeClr val="bg1"/>
                </a:solidFill>
              </a:rPr>
              <a:t> into </a:t>
            </a:r>
            <a:r>
              <a:rPr lang="en-US" sz="4000" b="1" dirty="0">
                <a:solidFill>
                  <a:schemeClr val="bg1"/>
                </a:solidFill>
              </a:rPr>
              <a:t>numerical features</a:t>
            </a:r>
            <a:r>
              <a:rPr lang="en-US" sz="4000" dirty="0">
                <a:solidFill>
                  <a:schemeClr val="bg1"/>
                </a:solidFill>
              </a:rPr>
              <a:t> for the model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Each column is </a:t>
            </a:r>
            <a:r>
              <a:rPr lang="en-US" sz="4000" b="1" dirty="0">
                <a:solidFill>
                  <a:schemeClr val="bg1"/>
                </a:solidFill>
              </a:rPr>
              <a:t>1 if the trip falls in that period, 0 otherwise.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Ensures the model can learn </a:t>
            </a:r>
            <a:r>
              <a:rPr lang="en-US" sz="4000" b="1" dirty="0">
                <a:solidFill>
                  <a:schemeClr val="bg1"/>
                </a:solidFill>
              </a:rPr>
              <a:t>temporal effects on fares</a:t>
            </a:r>
            <a:r>
              <a:rPr lang="en-US" sz="4000" dirty="0">
                <a:solidFill>
                  <a:schemeClr val="bg1"/>
                </a:solidFill>
              </a:rPr>
              <a:t> without assuming order.</a:t>
            </a:r>
          </a:p>
        </p:txBody>
      </p:sp>
    </p:spTree>
    <p:extLst>
      <p:ext uri="{BB962C8B-B14F-4D97-AF65-F5344CB8AC3E}">
        <p14:creationId xmlns:p14="http://schemas.microsoft.com/office/powerpoint/2010/main" val="92303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9B263-1C8F-66D1-0F78-62D24A57CA2E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4250F1-78D8-DA82-3CFC-F22F6AF53526}"/>
              </a:ext>
            </a:extLst>
          </p:cNvPr>
          <p:cNvSpPr txBox="1"/>
          <p:nvPr/>
        </p:nvSpPr>
        <p:spPr>
          <a:xfrm>
            <a:off x="1828800" y="800942"/>
            <a:ext cx="14630400" cy="1200329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algn="ctr" fontAlgn="t"/>
            <a:r>
              <a:rPr lang="en-US" sz="6600" dirty="0">
                <a:solidFill>
                  <a:schemeClr val="bg1"/>
                </a:solidFill>
              </a:rPr>
              <a:t>Models Used</a:t>
            </a:r>
            <a:endParaRPr lang="en-US" sz="66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5D3A4-2C60-84B1-3F26-C3FAF7CBF32E}"/>
              </a:ext>
            </a:extLst>
          </p:cNvPr>
          <p:cNvSpPr txBox="1"/>
          <p:nvPr/>
        </p:nvSpPr>
        <p:spPr>
          <a:xfrm>
            <a:off x="1803400" y="2095500"/>
            <a:ext cx="14351000" cy="8617744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Ctr="0">
            <a:spAutoFit/>
          </a:bodyPr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Decision Trees</a:t>
            </a:r>
          </a:p>
          <a:p>
            <a:pPr algn="ctr"/>
            <a:endParaRPr lang="en-US" sz="4400" b="1" dirty="0">
              <a:solidFill>
                <a:schemeClr val="bg1"/>
              </a:solidFill>
            </a:endParaRP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Linear Regression</a:t>
            </a:r>
          </a:p>
          <a:p>
            <a:pPr algn="ctr"/>
            <a:endParaRPr lang="en-US" sz="4400" b="1" dirty="0">
              <a:solidFill>
                <a:schemeClr val="bg1"/>
              </a:solidFill>
            </a:endParaRPr>
          </a:p>
          <a:p>
            <a:pPr marL="0" algn="ctr" rtl="0" eaLnBrk="1" latinLnBrk="0" hangingPunct="1"/>
            <a:r>
              <a:rPr lang="en-US" sz="4400" b="1" dirty="0">
                <a:solidFill>
                  <a:schemeClr val="bg1"/>
                </a:solidFill>
              </a:rPr>
              <a:t>Random Forest</a:t>
            </a:r>
          </a:p>
          <a:p>
            <a:pPr algn="ctr"/>
            <a:endParaRPr lang="en-US" sz="4400" b="1" dirty="0">
              <a:solidFill>
                <a:schemeClr val="bg1"/>
              </a:solidFill>
            </a:endParaRPr>
          </a:p>
          <a:p>
            <a:pPr algn="ctr"/>
            <a:r>
              <a:rPr lang="en-US" sz="4400" b="1" dirty="0" err="1">
                <a:solidFill>
                  <a:schemeClr val="bg1"/>
                </a:solidFill>
              </a:rPr>
              <a:t>XGBoost</a:t>
            </a:r>
            <a:endParaRPr lang="en-US" sz="4400" b="1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We used Four different algorithms to compare performance and choose the best one.</a:t>
            </a:r>
          </a:p>
          <a:p>
            <a:pPr fontAlgn="base"/>
            <a:endParaRPr lang="en-US" sz="4000" b="1" dirty="0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50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897F-AC9C-56D6-3046-AF79A9D559A8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0E8A75-14E2-4A4C-EC3C-92DC72E1681F}"/>
              </a:ext>
            </a:extLst>
          </p:cNvPr>
          <p:cNvSpPr txBox="1"/>
          <p:nvPr/>
        </p:nvSpPr>
        <p:spPr>
          <a:xfrm>
            <a:off x="1828800" y="800942"/>
            <a:ext cx="14630400" cy="1107996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algn="ctr" fontAlgn="t"/>
            <a:r>
              <a:rPr lang="en-US" sz="6000" dirty="0">
                <a:solidFill>
                  <a:schemeClr val="bg1"/>
                </a:solidFill>
              </a:rPr>
              <a:t>Model Comparison</a:t>
            </a:r>
            <a:endParaRPr lang="en-US" sz="60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6DAA86-83DC-94BC-030A-4D4BE99C95AC}"/>
              </a:ext>
            </a:extLst>
          </p:cNvPr>
          <p:cNvSpPr txBox="1"/>
          <p:nvPr/>
        </p:nvSpPr>
        <p:spPr>
          <a:xfrm>
            <a:off x="1826455" y="5342509"/>
            <a:ext cx="12499145" cy="2154436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fontAlgn="t"/>
            <a:endParaRPr lang="en-US" sz="3200" b="1" dirty="0">
              <a:solidFill>
                <a:schemeClr val="bg1"/>
              </a:solidFill>
              <a:latin typeface="Arial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rial"/>
              </a:rPr>
              <a:t>Random Forest achieved the best evaluation.</a:t>
            </a:r>
          </a:p>
          <a:p>
            <a:pPr fontAlgn="base"/>
            <a:endParaRPr lang="ar-JO" sz="3200" dirty="0">
              <a:solidFill>
                <a:schemeClr val="bg1"/>
              </a:solidFill>
              <a:latin typeface="Arial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B3EA82-55D8-C45F-1159-0693CCB53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225" y="2440850"/>
            <a:ext cx="13352975" cy="23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73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2DFA-050C-F90B-3FA4-3F4107FD896D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9EDC1A-0680-4BFC-19A7-85800F0B515E}"/>
              </a:ext>
            </a:extLst>
          </p:cNvPr>
          <p:cNvSpPr txBox="1"/>
          <p:nvPr/>
        </p:nvSpPr>
        <p:spPr>
          <a:xfrm>
            <a:off x="1828800" y="800942"/>
            <a:ext cx="14630400" cy="1107996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algn="ctr" fontAlgn="t"/>
            <a:r>
              <a:rPr lang="en-US" sz="6000" dirty="0">
                <a:solidFill>
                  <a:schemeClr val="bg1"/>
                </a:solidFill>
              </a:rPr>
              <a:t>Model Comparison with categorical features</a:t>
            </a:r>
            <a:endParaRPr lang="en-US" sz="60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B0665F-2DCD-65F9-7A83-00928F612106}"/>
              </a:ext>
            </a:extLst>
          </p:cNvPr>
          <p:cNvSpPr txBox="1"/>
          <p:nvPr/>
        </p:nvSpPr>
        <p:spPr>
          <a:xfrm>
            <a:off x="1826455" y="5342509"/>
            <a:ext cx="13489745" cy="3139321"/>
          </a:xfrm>
          <a:prstGeom prst="rect">
            <a:avLst/>
          </a:prstGeom>
          <a:noFill/>
        </p:spPr>
        <p:txBody>
          <a:bodyPr vert="horz" wrap="square" lIns="182880" tIns="91440" rIns="182880" bIns="91440" rtlCol="0" anchor="t" anchorCtr="0">
            <a:spAutoFit/>
          </a:bodyPr>
          <a:lstStyle/>
          <a:p>
            <a:pPr fontAlgn="t"/>
            <a:endParaRPr lang="en-US" sz="3200" b="1" dirty="0">
              <a:solidFill>
                <a:schemeClr val="bg1"/>
              </a:solidFill>
              <a:latin typeface="Arial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rial"/>
              </a:rPr>
              <a:t>Random Forest achieved the best evaluation.</a:t>
            </a:r>
          </a:p>
          <a:p>
            <a:pPr fontAlgn="base"/>
            <a:endParaRPr lang="ar-JO" sz="3200" dirty="0">
              <a:solidFill>
                <a:schemeClr val="bg1"/>
              </a:solidFill>
              <a:latin typeface="Arial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rial"/>
              </a:rPr>
              <a:t>XGBoost</a:t>
            </a:r>
            <a:r>
              <a:rPr lang="en-US" sz="3200" dirty="0">
                <a:solidFill>
                  <a:schemeClr val="bg1"/>
                </a:solidFill>
                <a:latin typeface="Arial"/>
              </a:rPr>
              <a:t> performance is also usable but less than Random Forest.</a:t>
            </a:r>
          </a:p>
          <a:p>
            <a:pPr fontAlgn="base"/>
            <a:endParaRPr lang="en-US" sz="3200" dirty="0">
              <a:solidFill>
                <a:schemeClr val="bg1"/>
              </a:solidFill>
              <a:latin typeface="Arial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rial"/>
              </a:rPr>
              <a:t>Decision Trees is the worst one for this data.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AD0897-2D6F-83DE-3695-99A5CCF04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095500"/>
            <a:ext cx="10210800" cy="192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126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897F-AC9C-56D6-3046-AF79A9D559A8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0E8A75-14E2-4A4C-EC3C-92DC72E1681F}"/>
              </a:ext>
            </a:extLst>
          </p:cNvPr>
          <p:cNvSpPr txBox="1"/>
          <p:nvPr/>
        </p:nvSpPr>
        <p:spPr>
          <a:xfrm>
            <a:off x="1828800" y="800942"/>
            <a:ext cx="14630400" cy="2031325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algn="ctr" fontAlgn="t"/>
            <a:r>
              <a:rPr lang="en-US" sz="6000" dirty="0">
                <a:solidFill>
                  <a:schemeClr val="bg1"/>
                </a:solidFill>
              </a:rPr>
              <a:t>Model Comparison without categorical features</a:t>
            </a:r>
            <a:endParaRPr lang="en-US" sz="6000" b="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B9F61A-4DDD-A4E8-E996-ADD8D82B0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994" y="4838700"/>
            <a:ext cx="3000794" cy="40245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8EAEB5-9AAE-C109-B6EB-E6EC4FF0CCC5}"/>
              </a:ext>
            </a:extLst>
          </p:cNvPr>
          <p:cNvSpPr txBox="1"/>
          <p:nvPr/>
        </p:nvSpPr>
        <p:spPr>
          <a:xfrm>
            <a:off x="1371600" y="3052346"/>
            <a:ext cx="14630400" cy="1169551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fontAlgn="t"/>
            <a:r>
              <a:rPr lang="en-US" sz="3200" b="1" dirty="0">
                <a:solidFill>
                  <a:schemeClr val="bg1"/>
                </a:solidFill>
                <a:latin typeface="Arial"/>
              </a:rPr>
              <a:t>We can see that the relation between categorical features and fare amount are equals and that not reasonable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8086B9-B568-465A-1090-0B110AE47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4838701"/>
            <a:ext cx="12115800" cy="399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5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897F-AC9C-56D6-3046-AF79A9D559A8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0E8A75-14E2-4A4C-EC3C-92DC72E1681F}"/>
              </a:ext>
            </a:extLst>
          </p:cNvPr>
          <p:cNvSpPr txBox="1"/>
          <p:nvPr/>
        </p:nvSpPr>
        <p:spPr>
          <a:xfrm>
            <a:off x="1828800" y="800942"/>
            <a:ext cx="14630400" cy="2031325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algn="ctr" fontAlgn="t"/>
            <a:r>
              <a:rPr lang="en-US" sz="6000" dirty="0">
                <a:solidFill>
                  <a:schemeClr val="bg1"/>
                </a:solidFill>
              </a:rPr>
              <a:t>Model Comparison without categorical features</a:t>
            </a:r>
            <a:endParaRPr lang="en-US" sz="6000" b="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F6803-3194-EAB6-FB85-50063E073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5448300"/>
            <a:ext cx="6858000" cy="43243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893F4F-303A-AF8F-3615-19BF8360F97D}"/>
              </a:ext>
            </a:extLst>
          </p:cNvPr>
          <p:cNvSpPr txBox="1"/>
          <p:nvPr/>
        </p:nvSpPr>
        <p:spPr>
          <a:xfrm>
            <a:off x="1371600" y="3052346"/>
            <a:ext cx="14630400" cy="1169551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fontAlgn="t"/>
            <a:r>
              <a:rPr lang="en-US" sz="3200" b="1" dirty="0">
                <a:solidFill>
                  <a:schemeClr val="bg1"/>
                </a:solidFill>
                <a:latin typeface="Arial"/>
              </a:rPr>
              <a:t>We can see that categorical features isn’t important in the model and we can drop it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087186-D553-9824-A32B-8E421B45B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5819775"/>
            <a:ext cx="62676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2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897F-AC9C-56D6-3046-AF79A9D559A8}"/>
            </a:ext>
          </a:extLst>
        </p:cNvPr>
        <p:cNvGrpSpPr/>
        <p:nvPr/>
      </p:nvGrpSpPr>
      <p:grpSpPr>
        <a:xfrm>
          <a:off x="914400" y="1028700"/>
          <a:ext cx="8229600" cy="4543425"/>
          <a:chOff x="914400" y="1028700"/>
          <a:chExt cx="8229600" cy="4543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0E8A75-14E2-4A4C-EC3C-92DC72E1681F}"/>
              </a:ext>
            </a:extLst>
          </p:cNvPr>
          <p:cNvSpPr txBox="1"/>
          <p:nvPr/>
        </p:nvSpPr>
        <p:spPr>
          <a:xfrm>
            <a:off x="1828800" y="800942"/>
            <a:ext cx="14630400" cy="1107996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algn="ctr" fontAlgn="t"/>
            <a:r>
              <a:rPr lang="en-US" sz="6000" dirty="0">
                <a:solidFill>
                  <a:schemeClr val="bg1"/>
                </a:solidFill>
              </a:rPr>
              <a:t>Random Forest Model with CV</a:t>
            </a:r>
            <a:endParaRPr lang="en-US" sz="60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E67A8-5BF0-7F66-937C-778B3D57720B}"/>
              </a:ext>
            </a:extLst>
          </p:cNvPr>
          <p:cNvSpPr txBox="1"/>
          <p:nvPr/>
        </p:nvSpPr>
        <p:spPr>
          <a:xfrm>
            <a:off x="1371600" y="3052346"/>
            <a:ext cx="14630400" cy="677108"/>
          </a:xfrm>
          <a:prstGeom prst="rect">
            <a:avLst/>
          </a:prstGeom>
          <a:noFill/>
        </p:spPr>
        <p:txBody>
          <a:bodyPr vert="horz" lIns="182880" tIns="91440" rIns="182880" bIns="91440" rtlCol="0" anchor="t" anchorCtr="0">
            <a:spAutoFit/>
          </a:bodyPr>
          <a:lstStyle/>
          <a:p>
            <a:pPr fontAlgn="t"/>
            <a:r>
              <a:rPr lang="en-US" sz="3200" b="1" dirty="0">
                <a:solidFill>
                  <a:schemeClr val="bg1"/>
                </a:solidFill>
                <a:latin typeface="Arial"/>
              </a:rPr>
              <a:t>We used </a:t>
            </a:r>
            <a:r>
              <a:rPr lang="en-US" sz="3200" b="1" dirty="0" err="1">
                <a:solidFill>
                  <a:schemeClr val="bg1"/>
                </a:solidFill>
                <a:latin typeface="Arial"/>
              </a:rPr>
              <a:t>Kfold</a:t>
            </a:r>
            <a:r>
              <a:rPr lang="en-US" sz="3200" b="1" dirty="0">
                <a:solidFill>
                  <a:schemeClr val="bg1"/>
                </a:solidFill>
                <a:latin typeface="Arial"/>
              </a:rPr>
              <a:t> with 3 splits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F7B8C1-45F3-7267-AE6B-128405FCC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610100"/>
            <a:ext cx="108966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0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17D43-90F3-BE12-0074-287AD36B8821}"/>
              </a:ext>
            </a:extLst>
          </p:cNvPr>
          <p:cNvSpPr txBox="1"/>
          <p:nvPr/>
        </p:nvSpPr>
        <p:spPr>
          <a:xfrm>
            <a:off x="6172200" y="4543335"/>
            <a:ext cx="533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98" defTabSz="1029432">
              <a:spcBef>
                <a:spcPts val="113"/>
              </a:spcBef>
            </a:pPr>
            <a:r>
              <a:rPr lang="en-US" sz="7200" b="1" kern="0" dirty="0">
                <a:solidFill>
                  <a:schemeClr val="bg1"/>
                </a:solidFill>
                <a:latin typeface="Arial"/>
                <a:cs typeface="Arial"/>
              </a:rPr>
              <a:t>Thank</a:t>
            </a:r>
            <a:r>
              <a:rPr lang="en-US" sz="7200" b="1" kern="0" spc="-7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7200" b="1" kern="0" spc="-68" dirty="0">
                <a:solidFill>
                  <a:schemeClr val="bg1"/>
                </a:solidFill>
                <a:latin typeface="Arial"/>
                <a:cs typeface="Arial"/>
              </a:rPr>
              <a:t>You!</a:t>
            </a:r>
            <a:endParaRPr lang="en-US" sz="7200" kern="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271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518</Words>
  <Application>Microsoft Office PowerPoint</Application>
  <PresentationFormat>Custom</PresentationFormat>
  <Paragraphs>97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Consolas</vt:lpstr>
      <vt:lpstr>Arial</vt:lpstr>
      <vt:lpstr>Microsoft Sans Serif</vt:lpstr>
      <vt:lpstr>Aptos</vt:lpstr>
      <vt:lpstr>Calibri</vt:lpstr>
      <vt:lpstr>Office Theme</vt:lpstr>
      <vt:lpstr>3_Office Theme</vt:lpstr>
      <vt:lpstr>Taxi Fares Prediction Machine Learning Regression Project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Dashboard GUI Project (1).pptx</dc:title>
  <dc:creator>Mahmoud Walid</dc:creator>
  <cp:lastModifiedBy>ايه عادل محمد احمد</cp:lastModifiedBy>
  <cp:revision>609</cp:revision>
  <dcterms:created xsi:type="dcterms:W3CDTF">2006-08-16T00:00:00Z</dcterms:created>
  <dcterms:modified xsi:type="dcterms:W3CDTF">2026-03-07T18:15:38Z</dcterms:modified>
  <dc:identifier>DAGrq5cUFqU</dc:identifier>
</cp:coreProperties>
</file>